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Davidxswang/earth-agent-ai-sdk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Davidxswang/earth-agent-ai-sdk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Earth Agent：基于大语言模型的 Google Earth Engine 智能代理系统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系统设计、闭环交互与 UnivEARTH 评测</a:t>
            </a:r>
            <a:br/>
            <a:br/>
            <a:r>
              <a:rPr/>
              <a:t>Xiaokang Fu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Google Earth Engine（GEE）</a:t>
            </a:r>
            <a:r>
              <a:rPr/>
              <a:t> 是当前应用最广泛的云端地理空间分析平台</a:t>
            </a:r>
          </a:p>
          <a:p>
            <a:pPr lvl="0" indent="0" marL="0">
              <a:buNone/>
            </a:pPr>
            <a:r>
              <a:rPr b="1"/>
              <a:t>痛点</a:t>
            </a:r>
            <a:r>
              <a:rPr/>
              <a:t>：</a:t>
            </a:r>
          </a:p>
          <a:p>
            <a:pPr lvl="0"/>
            <a:r>
              <a:rPr/>
              <a:t>复杂的 JavaScript / Python API</a:t>
            </a:r>
          </a:p>
          <a:p>
            <a:pPr lvl="0"/>
            <a:r>
              <a:rPr/>
              <a:t>上千个数据集与函数，学习成本高</a:t>
            </a:r>
          </a:p>
          <a:p>
            <a:pPr lvl="0"/>
            <a:r>
              <a:rPr/>
              <a:t>调试链路冗长（写代码 → 跑 → 看 console → 修 → 再跑）</a:t>
            </a:r>
          </a:p>
          <a:p>
            <a:pPr lvl="0"/>
            <a:r>
              <a:rPr/>
              <a:t>多步骤分析任务需要熟悉 GEE 内部机制</a:t>
            </a:r>
          </a:p>
          <a:p>
            <a:pPr lvl="0" indent="0" marL="0">
              <a:buNone/>
            </a:pPr>
            <a:r>
              <a:rPr b="1"/>
              <a:t>机会</a:t>
            </a:r>
            <a:r>
              <a:rPr/>
              <a:t>：大语言模型在代码生成与工具调用上取得突破， 为自然语言驱动的地理空间分析提供新可能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Earth Agent 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 </a:t>
            </a:r>
            <a:r>
              <a:rPr b="1"/>
              <a:t>Chrome 浏览器扩展 + MCP 服务器</a:t>
            </a:r>
            <a:r>
              <a:rPr/>
              <a:t>，把 LLM 代理范式引入 GEE 在线编辑器</a:t>
            </a:r>
          </a:p>
          <a:p>
            <a:pPr lvl="0" indent="0" marL="0">
              <a:buNone/>
            </a:pPr>
            <a:r>
              <a:rPr b="1"/>
              <a:t>两种使用方式</a:t>
            </a:r>
            <a:r>
              <a:rPr/>
              <a:t>：</a:t>
            </a:r>
          </a:p>
          <a:p>
            <a:pPr lvl="0" indent="-342900" marL="342900">
              <a:buAutoNum type="arabicPeriod"/>
            </a:pPr>
            <a:r>
              <a:rPr b="1"/>
              <a:t>扩展独立使用</a:t>
            </a:r>
            <a:r>
              <a:rPr/>
              <a:t>：自带聊天面板，直接对话操作 GEE</a:t>
            </a:r>
          </a:p>
          <a:p>
            <a:pPr lvl="0" indent="-342900" marL="342900">
              <a:buAutoNum type="arabicPeriod"/>
            </a:pPr>
            <a:r>
              <a:rPr b="1"/>
              <a:t>MCP 接入外部 AI</a:t>
            </a:r>
            <a:r>
              <a:rPr/>
              <a:t>：让 Claude Code、Cursor、Zed 等编辑器通过 MCP 协议直接调用 GEE 工具</a:t>
            </a:r>
          </a:p>
          <a:p>
            <a:pPr lvl="0" indent="0" marL="0">
              <a:buNone/>
            </a:pPr>
            <a:r>
              <a:rPr b="1"/>
              <a:t>关键创新</a:t>
            </a:r>
            <a:r>
              <a:rPr/>
              <a:t>：闭环交互（closed-loop）</a:t>
            </a:r>
          </a:p>
          <a:p>
            <a:pPr lvl="0"/>
            <a:r>
              <a:rPr/>
              <a:t>不仅生成代码，还能 </a:t>
            </a:r>
            <a:r>
              <a:rPr b="1"/>
              <a:t>执行 → 观察结果 → 修正</a:t>
            </a:r>
          </a:p>
          <a:p>
            <a:pPr lvl="0"/>
            <a:r>
              <a:rPr/>
              <a:t>LLM 直接感知 GEE 运行环境（控制台、地图、Inspector）</a:t>
            </a:r>
          </a:p>
          <a:p>
            <a:pPr lvl="0"/>
            <a:r>
              <a:rPr/>
              <a:t>实现自主的多步骤地学分析工作流</a:t>
            </a:r>
          </a:p>
          <a:p>
            <a:pPr lvl="0" indent="0" marL="0">
              <a:buNone/>
            </a:pPr>
            <a:r>
              <a:rPr b="1"/>
              <a:t>已上线 Chrome Web Store + 开源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+-----------------------------------------------+
| 外部 AI 编辑器 (Claude Code / Cursor / Zed)   |
+----------------------+------------------------+
                       | stdio (MCP Protocol)
                       v
+-----------------------------------------------+
| MCP Server  (earth-agent-mcp, npm)            |
+----------------------+------------------------+
                       | WebSocket (port 3847)
                       v
+-----------------------------------------------+
| Chrome Extension (Background Service Worker)  |
|   - AI Provider 调用 (OpenAI/Anthropic/Google)|
|   - 工具调度与状态管理                        |
|   - Side Panel UI（独立模式）                 |
+----------------------+------------------------+
                       | Chrome APIs
                       v
+-----------------------------------------------+
| Google Earth Engine 代码编辑器                |
|   内容脚本注入：DOM 操作、Ace Editor 控制     |
+-----------------------------------------------+</a:t>
            </a:r>
          </a:p>
          <a:p>
            <a:pPr lvl="0" indent="0" marL="0">
              <a:buNone/>
            </a:pPr>
            <a:r>
              <a:rPr b="1"/>
              <a:t>所有 LLM Provider 通过 AI SDK 统一封装</a:t>
            </a:r>
            <a:r>
              <a:rPr/>
              <a:t>：OpenAI / Anthropic / Google / 自定义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闭环交互：核心创新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 不只是”代码生成器”，而是真正的”代理人”：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写代码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writeCode</a:t>
                      </a:r>
                      <a:r>
                        <a:rPr/>
                        <a:t>、</a:t>
                      </a:r>
                      <a:r>
                        <a:rPr>
                          <a:latin typeface="Courier"/>
                        </a:rPr>
                        <a:t>editCode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跑代码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runCurrentCode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读控制台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getConsoleOutput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看地图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screenshot</a:t>
                      </a:r>
                      <a:r>
                        <a:rPr/>
                        <a:t>（多模态视觉）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查文档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geeDocs</a:t>
                      </a:r>
                      <a:r>
                        <a:rPr/>
                        <a:t>（GEE Datasets + API）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点要素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clickAtScreenPosition</a:t>
                      </a:r>
                      <a:r>
                        <a:rPr/>
                        <a:t>、Inspector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典型流程</a:t>
            </a:r>
            <a:r>
              <a:rPr/>
              <a:t>（agent 自主完成）：</a:t>
            </a:r>
          </a:p>
          <a:p>
            <a:pPr lvl="0" indent="0" marL="1270000">
              <a:buNone/>
            </a:pPr>
            <a:r>
              <a:rPr sz="2000"/>
              <a:t>用户：“Medina 城市从 1984 到 2018 是否扩张？” Agent：查 GEE 数据集 → 写 Landsat 计算代码 → 跑 → 读控制台 → 数字看起来不对 → </a:t>
            </a:r>
            <a:r>
              <a:rPr sz="2000" b="1"/>
              <a:t>截图地图验证</a:t>
            </a:r>
            <a:r>
              <a:rPr sz="2000"/>
              <a:t> → 改方法 → 再跑 → “ANSWER: Yes”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方法论护栏（Methodology Guardrails）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为提升地学任务质量，引入 7 条领域知识作为系统级 prompt：</a:t>
            </a:r>
          </a:p>
          <a:p>
            <a:pPr lvl="0" indent="-342900" marL="342900">
              <a:buAutoNum type="arabicPeriod"/>
            </a:pPr>
            <a:r>
              <a:rPr b="1"/>
              <a:t>数值合理性校验</a:t>
            </a:r>
            <a:r>
              <a:rPr/>
              <a:t>：极端值要重新检查方法</a:t>
            </a:r>
          </a:p>
          <a:p>
            <a:pPr lvl="0" indent="-342900" marL="342900">
              <a:buAutoNum type="arabicPeriod"/>
            </a:pPr>
            <a:r>
              <a:rPr b="1"/>
              <a:t>跨传感器可比性</a:t>
            </a:r>
            <a:r>
              <a:rPr/>
              <a:t>：避免 Landsat 5/8 NDBI 直接比较</a:t>
            </a:r>
          </a:p>
          <a:p>
            <a:pPr lvl="0" indent="-342900" marL="342900">
              <a:buAutoNum type="arabicPeriod"/>
            </a:pPr>
            <a:r>
              <a:rPr b="1"/>
              <a:t>优先成熟产品</a:t>
            </a:r>
            <a:r>
              <a:rPr/>
              <a:t>：JRC GSW、MCD12Q1、GHSL 等</a:t>
            </a:r>
          </a:p>
          <a:p>
            <a:pPr lvl="0" indent="-342900" marL="342900">
              <a:buAutoNum type="arabicPeriod"/>
            </a:pPr>
            <a:r>
              <a:rPr b="1"/>
              <a:t>干旱区识别</a:t>
            </a:r>
            <a:r>
              <a:rPr/>
              <a:t>：NDBI 在沙漠不可靠 → 用夜光数据</a:t>
            </a:r>
          </a:p>
          <a:p>
            <a:pPr lvl="0" indent="-342900" marL="342900">
              <a:buAutoNum type="arabicPeriod"/>
            </a:pPr>
            <a:r>
              <a:rPr b="1"/>
              <a:t>避免任意阈值</a:t>
            </a:r>
            <a:r>
              <a:rPr/>
              <a:t>：单一阈值要溯源 + 敏感性测试</a:t>
            </a:r>
          </a:p>
          <a:p>
            <a:pPr lvl="0" indent="-342900" marL="342900">
              <a:buAutoNum type="arabicPeriod"/>
            </a:pPr>
            <a:r>
              <a:rPr b="1"/>
              <a:t>空间可视化验证</a:t>
            </a:r>
            <a:r>
              <a:rPr/>
              <a:t>：可疑结果用截图核实</a:t>
            </a:r>
          </a:p>
          <a:p>
            <a:pPr lvl="0" indent="-342900" marL="342900">
              <a:buAutoNum type="arabicPeriod"/>
            </a:pPr>
            <a:r>
              <a:rPr b="1"/>
              <a:t>GEE 限额内</a:t>
            </a:r>
            <a:r>
              <a:rPr/>
              <a:t>：禁止 </a:t>
            </a:r>
            <a:r>
              <a:rPr>
                <a:latin typeface="Courier"/>
              </a:rPr>
              <a:t>Export.*</a:t>
            </a:r>
            <a:r>
              <a:rPr/>
              <a:t>，控制 </a:t>
            </a:r>
            <a:r>
              <a:rPr>
                <a:latin typeface="Courier"/>
              </a:rPr>
              <a:t>scale</a:t>
            </a:r>
            <a:r>
              <a:rPr/>
              <a:t>/</a:t>
            </a:r>
            <a:r>
              <a:rPr>
                <a:latin typeface="Courier"/>
              </a:rPr>
              <a:t>bestEffort</a:t>
            </a:r>
          </a:p>
          <a:p>
            <a:pPr lvl="0" indent="0" marL="0">
              <a:buNone/>
            </a:pPr>
            <a:r>
              <a:rPr b="1"/>
              <a:t>作用</a:t>
            </a:r>
            <a:r>
              <a:rPr/>
              <a:t>：通过 Chrome Extension 的 Custom Instructions 注入， 不修改 benchmark prompt（避免 overfitting）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评测：UnivEARTH 基准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数据集</a:t>
            </a:r>
            <a:r>
              <a:rPr/>
              <a:t>：UnivEARTH (Sun et al., 2024) — 140 道 Yes/No 地球观测题</a:t>
            </a:r>
          </a:p>
          <a:p>
            <a:pPr lvl="0" indent="0" marL="0">
              <a:buNone/>
            </a:pPr>
            <a:r>
              <a:rPr b="1"/>
              <a:t>13 个标签</a:t>
            </a:r>
            <a:r>
              <a:rPr/>
              <a:t>：Air Pollution, Climate, Cloud &amp; Fog, Fire, Landuse, Precipitation, Snow, Soil Moisture, Temperature, Urban &amp; City, Vegetation, Water, Water Color</a:t>
            </a:r>
          </a:p>
          <a:p>
            <a:pPr lvl="0" indent="0" marL="0">
              <a:buNone/>
            </a:pPr>
            <a:r>
              <a:rPr b="1"/>
              <a:t>两种评测方式</a:t>
            </a:r>
            <a:r>
              <a:rPr/>
              <a:t>：</a:t>
            </a:r>
          </a:p>
          <a:p>
            <a:pPr lvl="0"/>
            <a:r>
              <a:rPr b="1"/>
              <a:t>Type 1</a:t>
            </a:r>
            <a:r>
              <a:rPr/>
              <a:t>（Internal）：扩展自带 AgentTestPanel 批量跑</a:t>
            </a:r>
          </a:p>
          <a:p>
            <a:pPr lvl="0"/>
            <a:r>
              <a:rPr b="1"/>
              <a:t>Type 2</a:t>
            </a:r>
            <a:r>
              <a:rPr/>
              <a:t>（External）：通过 MCP 让外部 AI 编辑器跑</a:t>
            </a:r>
          </a:p>
          <a:p>
            <a:pPr lvl="0" indent="0" marL="0">
              <a:buNone/>
            </a:pPr>
            <a:r>
              <a:rPr b="1"/>
              <a:t>本次报告：Type 1，分层抽样 13 题（每个标签 1 题，固定随机种子）</a:t>
            </a:r>
          </a:p>
          <a:p>
            <a:pPr lvl="0" indent="0" marL="0">
              <a:buNone/>
            </a:pPr>
            <a:r>
              <a:rPr b="1"/>
              <a:t>已确保可复现性</a:t>
            </a:r>
            <a:r>
              <a:rPr/>
              <a:t>：git SHA、模型版本、Custom Instructions SHA256、抽样种子全部快照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实验设置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模型</a:t>
            </a:r>
            <a:r>
              <a:rPr/>
              <a:t>：</a:t>
            </a:r>
          </a:p>
          <a:p>
            <a:pPr lvl="0"/>
            <a:r>
              <a:rPr/>
              <a:t>Smoke test：Haiku 4.5 / Sonnet 4.6 / Opus 4.7（5 题对比）</a:t>
            </a:r>
          </a:p>
          <a:p>
            <a:pPr lvl="0"/>
            <a:r>
              <a:rPr/>
              <a:t>主实验：Claude Opus 4.7（13 题分层抽样）</a:t>
            </a:r>
          </a:p>
          <a:p>
            <a:pPr lvl="0" indent="0" marL="0">
              <a:buNone/>
            </a:pPr>
            <a:r>
              <a:rPr b="1"/>
              <a:t>关键工程优化</a:t>
            </a:r>
            <a:r>
              <a:rPr/>
              <a:t>：</a:t>
            </a:r>
          </a:p>
          <a:p>
            <a:pPr lvl="0"/>
            <a:r>
              <a:rPr/>
              <a:t>AI SDK v6 prompt caching（system + tools，1h TTL）</a:t>
            </a:r>
          </a:p>
          <a:p>
            <a:pPr lvl="0"/>
            <a:r>
              <a:rPr>
                <a:latin typeface="Courier"/>
              </a:rPr>
              <a:t>experimental_repairToolCall</a:t>
            </a:r>
            <a:r>
              <a:rPr/>
              <a:t>：自动修复畸形 JSON 工具调用</a:t>
            </a:r>
          </a:p>
          <a:p>
            <a:pPr lvl="0"/>
            <a:r>
              <a:rPr/>
              <a:t>截图 JPEG quality 60（兼容 Helicone 日志）</a:t>
            </a:r>
          </a:p>
          <a:p>
            <a:pPr lvl="0"/>
            <a:r>
              <a:rPr/>
              <a:t>stepCountIs(100)：允许深度推理链</a:t>
            </a:r>
          </a:p>
          <a:p>
            <a:pPr lvl="0" indent="0" marL="0">
              <a:buNone/>
            </a:pPr>
            <a:r>
              <a:rPr b="1"/>
              <a:t>遥测</a:t>
            </a:r>
            <a:r>
              <a:rPr/>
              <a:t>：所有 LLM 调用通过 Helicone 记录，包括 token、cost、tool call 链路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结果 1：Opus 4.7 在 stratified_13 上达成 </a:t>
            </a:r>
            <a:r>
              <a:rPr b="1"/>
              <a:t>92.3%</a:t>
            </a:r>
          </a:p>
        </p:txBody>
      </p:sp>
      <p:pic>
        <p:nvPicPr>
          <p:cNvPr descr="figures/accuracy_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35400" y="1193800"/>
            <a:ext cx="1473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Opus 4.7 stratified_13 准确率（best-of merged）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准确率：12 / 13 = 92.3%</a:t>
            </a:r>
          </a:p>
          <a:p>
            <a:pPr lvl="0"/>
            <a:r>
              <a:rPr b="1"/>
              <a:t>失败率：0 / 13 = 0%</a:t>
            </a:r>
          </a:p>
          <a:p>
            <a:pPr lvl="0"/>
            <a:r>
              <a:rPr b="1"/>
              <a:t>选择性准确率：12 / 13 = 92.3%</a:t>
            </a:r>
          </a:p>
          <a:p>
            <a:pPr lvl="0" indent="0" marL="0">
              <a:buNone/>
            </a:pPr>
            <a:r>
              <a:rPr/>
              <a:t>唯一答错的是 Vegetation（Q43000），Agent 答 No、GT 是 Yes， 属于 ground truth 解读分歧的边界 case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结果 2：13 个标签的覆盖</a:t>
            </a:r>
          </a:p>
        </p:txBody>
      </p:sp>
      <p:pic>
        <p:nvPicPr>
          <p:cNvPr descr="figures/tag_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4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13 标签 × Opus 4.7 准确率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12/13 标签满分（深绿 = 1.00），仅 Vegetation 一题失分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结果 3：跨模型对比（5 题 smoke test）</a:t>
            </a:r>
          </a:p>
        </p:txBody>
      </p:sp>
      <p:pic>
        <p:nvPicPr>
          <p:cNvPr descr="figures/crossmodel_accuracy_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2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三模型在 5 题 smoke test 上的表现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Selective Acc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Haiku 4.5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Sonnet 4.6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Opus 4.7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所有模型选择性准确率均为 100%</a:t>
            </a:r>
            <a:r>
              <a:rPr/>
              <a:t>：当 agent 能完整答完，答案总是对的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结果 4：相比 UnivEARTH 论文 baseline 的飞跃</a:t>
            </a:r>
          </a:p>
        </p:txBody>
      </p:sp>
      <p:pic>
        <p:nvPicPr>
          <p:cNvPr descr="figures/paper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5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Earth Agent (Opus 4.7) vs UnivEARTH paper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论文最强 baseline（DeepSeek-V3）：~32% 准确率</a:t>
            </a:r>
          </a:p>
          <a:p>
            <a:pPr lvl="0"/>
            <a:r>
              <a:rPr/>
              <a:t>论文最强 baseline 失败率：均 &gt; 60%</a:t>
            </a:r>
          </a:p>
          <a:p>
            <a:pPr lvl="0"/>
            <a:r>
              <a:rPr b="1"/>
              <a:t>Earth Agent + Opus 4.7：92.3% 准确率，0% 失败率</a:t>
            </a:r>
          </a:p>
          <a:p>
            <a:pPr lvl="0" indent="0" marL="0">
              <a:buNone/>
            </a:pPr>
            <a:r>
              <a:rPr/>
              <a:t>提升幅度约 </a:t>
            </a:r>
            <a:r>
              <a:rPr b="1"/>
              <a:t>3 倍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讨论：能力提升来自何处？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闭环工具链</a:t>
            </a:r>
            <a:r>
              <a:rPr/>
              <a:t>：执行 → 观察 → 修正 弥补单次代码生成的不足</a:t>
            </a:r>
          </a:p>
          <a:p>
            <a:pPr lvl="0" indent="-342900" marL="342900">
              <a:buAutoNum type="arabicPeriod"/>
            </a:pPr>
            <a:r>
              <a:rPr b="1"/>
              <a:t>多模态视觉验证</a:t>
            </a:r>
            <a:r>
              <a:rPr/>
              <a:t>：截图工具让 agent 能像人类一样核实地图结果</a:t>
            </a:r>
          </a:p>
          <a:p>
            <a:pPr lvl="0" indent="-342900" marL="342900">
              <a:buAutoNum type="arabicPeriod"/>
            </a:pPr>
            <a:r>
              <a:rPr b="1"/>
              <a:t>方法论 guardrails</a:t>
            </a:r>
            <a:r>
              <a:rPr/>
              <a:t>：跨传感器、干旱区、合理性校验等领域知识</a:t>
            </a:r>
          </a:p>
          <a:p>
            <a:pPr lvl="0" indent="-342900" marL="342900">
              <a:buAutoNum type="arabicPeriod"/>
            </a:pPr>
            <a:r>
              <a:rPr b="1"/>
              <a:t>更强的 LLM</a:t>
            </a:r>
            <a:r>
              <a:rPr/>
              <a:t>：Opus 4.7 推理能力 + tool use 稳定性</a:t>
            </a:r>
          </a:p>
          <a:p>
            <a:pPr lvl="0" indent="-342900" marL="342900">
              <a:buAutoNum type="arabicPeriod"/>
            </a:pPr>
            <a:r>
              <a:rPr b="1"/>
              <a:t>prompt caching</a:t>
            </a:r>
            <a:r>
              <a:rPr/>
              <a:t>：使长链路 tool 调用经济可行</a:t>
            </a:r>
          </a:p>
          <a:p>
            <a:pPr lvl="0" indent="0" marL="0">
              <a:buNone/>
            </a:pPr>
            <a:r>
              <a:rPr b="1"/>
              <a:t>关键洞见</a:t>
            </a:r>
            <a:r>
              <a:rPr/>
              <a:t>：选择性准确率始终为 100%， 说明失败模式主要是基础设施问题（连接断、API 过载）， 而非模型推理错误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工程挑战与解决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解决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Worker 30s 终止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keep-alive ping + chrome.alarms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Anthropic 偶发畸形 tool JSON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experimental_repairToolCall</a:t>
                      </a:r>
                      <a:r>
                        <a:rPr/>
                        <a:t> 兜底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Helicone 大请求 body 丢失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PNG → JPEG quality 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4.6+ 拒绝 temperature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自动检测并删除参数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跨模型成本差异巨大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Sonnet/Haiku 跑全集 + Opus 跑困难子集策略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全部修复均已 commit 到主分支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未来工作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完整 140 题评测</a:t>
            </a:r>
            <a:r>
              <a:rPr/>
              <a:t>：扩展到全 UnivEARTH 数据集</a:t>
            </a:r>
          </a:p>
          <a:p>
            <a:pPr lvl="0" indent="-342900" marL="342900">
              <a:buAutoNum type="arabicPeriod"/>
            </a:pPr>
            <a:r>
              <a:rPr b="1"/>
              <a:t>Type 2 (MCP) 评测</a:t>
            </a:r>
            <a:r>
              <a:rPr/>
              <a:t>：对比扩展自带 vs 外部编辑器调用</a:t>
            </a:r>
          </a:p>
          <a:p>
            <a:pPr lvl="0" indent="-342900" marL="342900">
              <a:buAutoNum type="arabicPeriod"/>
            </a:pPr>
            <a:r>
              <a:rPr b="1"/>
              <a:t>多模型矩阵</a:t>
            </a:r>
            <a:r>
              <a:rPr/>
              <a:t>：GPT-5.4 / Gemini 3.1 / DeepSeek-V3 同台对比</a:t>
            </a:r>
          </a:p>
          <a:p>
            <a:pPr lvl="0" indent="-342900" marL="342900">
              <a:buAutoNum type="arabicPeriod"/>
            </a:pPr>
            <a:r>
              <a:rPr b="1"/>
              <a:t>Reflexion / few-shot</a:t>
            </a:r>
            <a:r>
              <a:rPr/>
              <a:t>：反思与示例对失败题的补救能力</a:t>
            </a:r>
          </a:p>
          <a:p>
            <a:pPr lvl="0" indent="-342900" marL="342900">
              <a:buAutoNum type="arabicPeriod"/>
            </a:pPr>
            <a:r>
              <a:rPr b="1"/>
              <a:t>Custom Instructions 消融实验</a:t>
            </a:r>
            <a:r>
              <a:rPr/>
              <a:t>：量化 guardrails 的边际收益</a:t>
            </a:r>
          </a:p>
          <a:p>
            <a:pPr lvl="0" indent="-342900" marL="342900">
              <a:buAutoNum type="arabicPeriod"/>
            </a:pPr>
            <a:r>
              <a:rPr b="1"/>
              <a:t>细粒度任务难度梯度</a:t>
            </a:r>
            <a:r>
              <a:rPr/>
              <a:t>：从单步查询到多步分析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Earth Agent</a:t>
            </a:r>
            <a:r>
              <a:rPr/>
              <a:t>：</a:t>
            </a:r>
          </a:p>
          <a:p>
            <a:pPr lvl="0"/>
            <a:r>
              <a:rPr/>
              <a:t>首个专为 GEE 设计的闭环 LLM 代理系统</a:t>
            </a:r>
          </a:p>
          <a:p>
            <a:pPr lvl="0"/>
            <a:r>
              <a:rPr/>
              <a:t>Chrome 扩展 + MCP 双形态，已开源、已上架</a:t>
            </a:r>
          </a:p>
          <a:p>
            <a:pPr lvl="0"/>
            <a:r>
              <a:rPr/>
              <a:t>方法论 guardrails 让通用 LLM 适配地学领域</a:t>
            </a:r>
          </a:p>
          <a:p>
            <a:pPr lvl="0" indent="0" marL="0">
              <a:buNone/>
            </a:pPr>
            <a:r>
              <a:rPr b="1"/>
              <a:t>评测</a:t>
            </a:r>
            <a:r>
              <a:rPr/>
              <a:t>：</a:t>
            </a:r>
          </a:p>
          <a:p>
            <a:pPr lvl="0"/>
            <a:r>
              <a:rPr/>
              <a:t>Opus 4.7 在 UnivEARTH 分层子集达到 </a:t>
            </a:r>
            <a:r>
              <a:rPr b="1"/>
              <a:t>92.3% 准确率，0% 失败率</a:t>
            </a:r>
          </a:p>
          <a:p>
            <a:pPr lvl="0"/>
            <a:r>
              <a:rPr/>
              <a:t>相比 UnivEARTH 论文最强 baseline（~32%）提升约 3 倍</a:t>
            </a:r>
          </a:p>
          <a:p>
            <a:pPr lvl="0"/>
            <a:r>
              <a:rPr/>
              <a:t>选择性准确率 100% 说明失败几乎都是工程问题，非推理错误</a:t>
            </a:r>
          </a:p>
          <a:p>
            <a:pPr lvl="0" indent="0" marL="0">
              <a:buNone/>
            </a:pPr>
            <a:r>
              <a:rPr b="1"/>
              <a:t>意义</a:t>
            </a:r>
            <a:r>
              <a:rPr/>
              <a:t>：证明配备工具链与领域护栏的 LLM 代理 可以胜任真实的多步地学分析工作流</a:t>
            </a:r>
          </a:p>
          <a:p>
            <a:pPr lvl="0" indent="0" marL="0">
              <a:buNone/>
            </a:pPr>
            <a:r>
              <a:rPr b="1"/>
              <a:t>致谢 &amp; 开源链接</a:t>
            </a:r>
            <a:r>
              <a:rPr/>
              <a:t>： GitHub: </a:t>
            </a:r>
            <a:r>
              <a:rPr>
                <a:hlinkClick r:id="rId2"/>
              </a:rPr>
              <a:t>https://github.com/Davidxswang/earth-agent-ai-sdk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谢谢！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Q&amp;A</a:t>
            </a:r>
          </a:p>
          <a:p>
            <a:pPr lvl="0" indent="0" marL="0">
              <a:buNone/>
            </a:pPr>
            <a:r>
              <a:rPr/>
              <a:t>GitHub: </a:t>
            </a:r>
            <a:r>
              <a:rPr>
                <a:hlinkClick r:id="rId2"/>
              </a:rPr>
              <a:t>https://github.com/Davidxswang/earth-agent-ai-sdk</a:t>
            </a:r>
            <a:r>
              <a:rPr/>
              <a:t> Chrome Web Store: 搜索 “Earth Agent” NPM: </a:t>
            </a:r>
            <a:r>
              <a:rPr>
                <a:latin typeface="Courier"/>
              </a:rPr>
              <a:t>earth-agent-mcp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 Agent：基于大语言模型的 Google Earth Engine 智能代理系统</dc:title>
  <dc:creator>Xiaokang Fu</dc:creator>
  <cp:keywords/>
  <dcterms:created xsi:type="dcterms:W3CDTF">2026-04-27T02:06:38Z</dcterms:created>
  <dcterms:modified xsi:type="dcterms:W3CDTF">2026-04-27T02:06:38Z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2026-04-25</vt:lpwstr>
  </property>
  <property fmtid="{D5CDD505-2E9C-101B-9397-08002B2CF9AE}" pid="3" name="subtitle">
    <vt:lpwstr>系统设计、闭环交互与 UnivEARTH 评测</vt:lpwstr>
  </property>
</Properties>
</file>